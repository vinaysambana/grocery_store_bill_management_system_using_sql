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692640" y="0"/>
            <a:ext cx="2496312" cy="6858000"/>
          </a:xfrm>
          <a:prstGeom prst="rect">
            <a:avLst/>
          </a:prstGeom>
          <a:solidFill>
            <a:srgbClr val="1A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8686800" cy="12801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Grocery Store Billing\nManagement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926080"/>
            <a:ext cx="813816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800" b="0">
                <a:solidFill>
                  <a:srgbClr val="CBDBEB"/>
                </a:solidFill>
                <a:latin typeface="Aptos"/>
              </a:defRPr>
            </a:pPr>
            <a:r>
              <a:t>Database Design • Billing • Inventory • Sales Reporting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794760"/>
            <a:ext cx="914400" cy="64008"/>
          </a:xfrm>
          <a:prstGeom prst="rect">
            <a:avLst/>
          </a:prstGeom>
          <a:solidFill>
            <a:srgbClr val="EFB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4155067"/>
            <a:ext cx="7498079" cy="54784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rPr dirty="0"/>
              <a:t>Project presentation | MySQL 8.0.16+</a:t>
            </a:r>
            <a:endParaRPr lang="en-IN" dirty="0"/>
          </a:p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534924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000" b="0">
                <a:solidFill>
                  <a:srgbClr val="B9CADC"/>
                </a:solidFill>
                <a:latin typeface="Aptos"/>
              </a:defRPr>
            </a:pPr>
            <a:r>
              <a:t>Schema, ER model, automation, and reporting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9672"/>
            <a:ext cx="91440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800" b="1">
                <a:solidFill>
                  <a:srgbClr val="788491"/>
                </a:solidFill>
                <a:latin typeface="Aptos"/>
              </a:defRPr>
            </a:pPr>
            <a:r>
              <a:rPr dirty="0"/>
              <a:t>GROCERY STORE BILLING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900" b="0">
                <a:solidFill>
                  <a:srgbClr val="78849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8851E2-379B-BD37-640F-94716F361CB7}"/>
              </a:ext>
            </a:extLst>
          </p:cNvPr>
          <p:cNvSpPr txBox="1"/>
          <p:nvPr/>
        </p:nvSpPr>
        <p:spPr>
          <a:xfrm>
            <a:off x="6937131" y="5227010"/>
            <a:ext cx="262977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1400" dirty="0">
                <a:solidFill>
                  <a:schemeClr val="bg1"/>
                </a:solidFill>
              </a:rPr>
              <a:t>Presented by : Vinay Sambana</a:t>
            </a:r>
          </a:p>
          <a:p>
            <a:r>
              <a:rPr lang="en-US" sz="1400" dirty="0">
                <a:solidFill>
                  <a:schemeClr val="bg1"/>
                </a:solidFill>
              </a:rPr>
              <a:t>CGVI-PFS-VSP-007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800" b="1">
                <a:solidFill>
                  <a:srgbClr val="142A4B"/>
                </a:solidFill>
                <a:latin typeface="Aptos"/>
              </a:defRPr>
            </a:pPr>
            <a:r>
              <a:t>Project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54864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728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5F6E7D"/>
                </a:solidFill>
                <a:latin typeface="Aptos"/>
              </a:defRPr>
            </a:pPr>
            <a:r>
              <a:t>A relational database foundation for grocery store transactions and inventory.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1460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210312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3000" b="1">
                <a:solidFill>
                  <a:srgbClr val="00828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1031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400" b="1">
                <a:solidFill>
                  <a:srgbClr val="142A4B"/>
                </a:solidFill>
                <a:latin typeface="Aptos"/>
              </a:defRPr>
            </a:pPr>
            <a:r>
              <a:t>Core business tables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84448" y="1828800"/>
            <a:ext cx="251460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67328" y="2029968"/>
            <a:ext cx="210312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3000" b="1">
                <a:solidFill>
                  <a:srgbClr val="00828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7328" y="2651760"/>
            <a:ext cx="21031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400" b="1">
                <a:solidFill>
                  <a:srgbClr val="142A4B"/>
                </a:solidFill>
                <a:latin typeface="Aptos"/>
              </a:defRPr>
            </a:pPr>
            <a:r>
              <a:t>Reporting views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1828800"/>
            <a:ext cx="251460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0256" y="2029968"/>
            <a:ext cx="210312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3000" b="1">
                <a:solidFill>
                  <a:srgbClr val="00828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0256" y="2651760"/>
            <a:ext cx="21031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400" b="1">
                <a:solidFill>
                  <a:srgbClr val="142A4B"/>
                </a:solidFill>
                <a:latin typeface="Aptos"/>
              </a:defRPr>
            </a:pPr>
            <a:r>
              <a:t>Stored procedures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90304" y="1828800"/>
            <a:ext cx="251460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73184" y="2029968"/>
            <a:ext cx="210312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3000" b="1">
                <a:solidFill>
                  <a:srgbClr val="00828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73184" y="2651760"/>
            <a:ext cx="21031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400" b="1">
                <a:solidFill>
                  <a:srgbClr val="142A4B"/>
                </a:solidFill>
                <a:latin typeface="Aptos"/>
              </a:defRPr>
            </a:pPr>
            <a:r>
              <a:t>Triggers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102412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000" b="1">
                <a:solidFill>
                  <a:srgbClr val="142A4B"/>
                </a:solidFill>
                <a:latin typeface="Aptos"/>
              </a:defRPr>
            </a:pPr>
            <a:r>
              <a:t>Core workflow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572000"/>
            <a:ext cx="2011680" cy="914400"/>
          </a:xfrm>
          <a:prstGeom prst="roundRect">
            <a:avLst/>
          </a:prstGeom>
          <a:solidFill>
            <a:srgbClr val="E7F1F8"/>
          </a:solidFill>
          <a:ln>
            <a:solidFill>
              <a:srgbClr val="29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19" y="4681728"/>
            <a:ext cx="1828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400" b="1">
                <a:solidFill>
                  <a:srgbClr val="142A4B"/>
                </a:solidFill>
                <a:latin typeface="Aptos"/>
              </a:defRPr>
            </a:pPr>
            <a:r>
              <a:t>Catalog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19" y="5010912"/>
            <a:ext cx="18288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000" b="0">
                <a:solidFill>
                  <a:srgbClr val="303A46"/>
                </a:solidFill>
                <a:latin typeface="Aptos"/>
              </a:defRPr>
            </a:pPr>
            <a:r>
              <a:t>Categories + Products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800600"/>
            <a:ext cx="27432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2200" b="1">
                <a:solidFill>
                  <a:srgbClr val="008287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71800" y="4572000"/>
            <a:ext cx="2011680" cy="914400"/>
          </a:xfrm>
          <a:prstGeom prst="roundRect">
            <a:avLst/>
          </a:prstGeom>
          <a:solidFill>
            <a:srgbClr val="E7F1F8"/>
          </a:solidFill>
          <a:ln>
            <a:solidFill>
              <a:srgbClr val="29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63240" y="4681728"/>
            <a:ext cx="1828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400" b="1">
                <a:solidFill>
                  <a:srgbClr val="142A4B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5010912"/>
            <a:ext cx="18288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000" b="0">
                <a:solidFill>
                  <a:srgbClr val="303A46"/>
                </a:solidFill>
                <a:latin typeface="Aptos"/>
              </a:defRPr>
            </a:pPr>
            <a:r>
              <a:t>Suppliers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4800600"/>
            <a:ext cx="27432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2200" b="1">
                <a:solidFill>
                  <a:srgbClr val="008287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4572000"/>
            <a:ext cx="2011680" cy="914400"/>
          </a:xfrm>
          <a:prstGeom prst="roundRect">
            <a:avLst/>
          </a:prstGeom>
          <a:solidFill>
            <a:srgbClr val="E7F1F8"/>
          </a:solidFill>
          <a:ln>
            <a:solidFill>
              <a:srgbClr val="29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94959" y="4681728"/>
            <a:ext cx="1828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400" b="1">
                <a:solidFill>
                  <a:srgbClr val="142A4B"/>
                </a:solidFill>
                <a:latin typeface="Aptos"/>
              </a:defRPr>
            </a:pPr>
            <a:r>
              <a:t>Checkout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59" y="5010912"/>
            <a:ext cx="18288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000" b="0">
                <a:solidFill>
                  <a:srgbClr val="303A46"/>
                </a:solidFill>
                <a:latin typeface="Aptos"/>
              </a:defRPr>
            </a:pPr>
            <a:r>
              <a:t>Customers + Employees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800600"/>
            <a:ext cx="27432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2200" b="1">
                <a:solidFill>
                  <a:srgbClr val="008287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4572000"/>
            <a:ext cx="2011680" cy="914400"/>
          </a:xfrm>
          <a:prstGeom prst="roundRect">
            <a:avLst/>
          </a:prstGeom>
          <a:solidFill>
            <a:srgbClr val="E7F1F8"/>
          </a:solidFill>
          <a:ln>
            <a:solidFill>
              <a:srgbClr val="29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26679" y="4681728"/>
            <a:ext cx="1828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400" b="1">
                <a:solidFill>
                  <a:srgbClr val="142A4B"/>
                </a:solidFill>
                <a:latin typeface="Aptos"/>
              </a:defRPr>
            </a:pPr>
            <a:r>
              <a:t>Transaction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5010912"/>
            <a:ext cx="18288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000" b="0">
                <a:solidFill>
                  <a:srgbClr val="303A46"/>
                </a:solidFill>
                <a:latin typeface="Aptos"/>
              </a:defRPr>
            </a:pPr>
            <a:r>
              <a:t>Bills + Bill_Items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4800600"/>
            <a:ext cx="27432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2200" b="1">
                <a:solidFill>
                  <a:srgbClr val="008287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66959" y="4572000"/>
            <a:ext cx="2011680" cy="914400"/>
          </a:xfrm>
          <a:prstGeom prst="roundRect">
            <a:avLst/>
          </a:prstGeom>
          <a:solidFill>
            <a:srgbClr val="E7F1F8"/>
          </a:solidFill>
          <a:ln>
            <a:solidFill>
              <a:srgbClr val="29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58399" y="4681728"/>
            <a:ext cx="18288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400" b="1">
                <a:solidFill>
                  <a:srgbClr val="142A4B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399" y="5010912"/>
            <a:ext cx="18288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000" b="0">
                <a:solidFill>
                  <a:srgbClr val="303A46"/>
                </a:solidFill>
                <a:latin typeface="Aptos"/>
              </a:defRPr>
            </a:pPr>
            <a:r>
              <a:t>Views + query bank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519672"/>
            <a:ext cx="91440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800" b="1">
                <a:solidFill>
                  <a:srgbClr val="788491"/>
                </a:solidFill>
                <a:latin typeface="Aptos"/>
              </a:defRPr>
            </a:pPr>
            <a:r>
              <a:t>GROCERY STORE BILLING MANAGEMENT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9224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900" b="0">
                <a:solidFill>
                  <a:srgbClr val="788491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800" b="1">
                <a:solidFill>
                  <a:srgbClr val="142A4B"/>
                </a:solidFill>
                <a:latin typeface="Aptos"/>
              </a:defRPr>
            </a:pPr>
            <a:r>
              <a:t>Database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54864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728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5F6E7D"/>
                </a:solidFill>
                <a:latin typeface="Aptos"/>
              </a:defRPr>
            </a:pPr>
            <a:r>
              <a:t>Seven operational tables support the core store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755648"/>
            <a:ext cx="15087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500" b="1">
                <a:solidFill>
                  <a:srgbClr val="2962A0"/>
                </a:solidFill>
                <a:latin typeface="Aptos"/>
              </a:defRPr>
            </a:pPr>
            <a:r>
              <a:t>Categories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737360"/>
            <a:ext cx="338328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303A46"/>
                </a:solidFill>
                <a:latin typeface="Aptos"/>
              </a:defRPr>
            </a:pPr>
            <a:r>
              <a:t>category_id (PK), category_name, description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516636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898648"/>
            <a:ext cx="15087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500" b="1">
                <a:solidFill>
                  <a:srgbClr val="2962A0"/>
                </a:solidFill>
                <a:latin typeface="Aptos"/>
              </a:defRPr>
            </a:pPr>
            <a:r>
              <a:t>Suppliers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880360"/>
            <a:ext cx="338328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303A46"/>
                </a:solidFill>
                <a:latin typeface="Aptos"/>
              </a:defRPr>
            </a:pPr>
            <a:r>
              <a:t>supplier_id (PK), name, phone, email, city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6636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4041648"/>
            <a:ext cx="15087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500" b="1">
                <a:solidFill>
                  <a:srgbClr val="2962A0"/>
                </a:solidFill>
                <a:latin typeface="Aptos"/>
              </a:defRPr>
            </a:pPr>
            <a:r>
              <a:t>Products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4023359"/>
            <a:ext cx="338328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303A46"/>
                </a:solidFill>
                <a:latin typeface="Aptos"/>
              </a:defRPr>
            </a:pPr>
            <a:r>
              <a:t>product_id (PK), category_id (FK), supplier_id (FK), prices, stock, expiry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74920"/>
            <a:ext cx="516636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5184648"/>
            <a:ext cx="15087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500" b="1">
                <a:solidFill>
                  <a:srgbClr val="2962A0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5166359"/>
            <a:ext cx="338328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303A46"/>
                </a:solidFill>
                <a:latin typeface="Aptos"/>
              </a:defRPr>
            </a:pPr>
            <a:r>
              <a:t>customer_id (PK), contact details, loyalty_points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645920"/>
            <a:ext cx="516636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1" y="1755648"/>
            <a:ext cx="15087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500" b="1">
                <a:solidFill>
                  <a:srgbClr val="2962A0"/>
                </a:solidFill>
                <a:latin typeface="Aptos"/>
              </a:defRPr>
            </a:pPr>
            <a:r>
              <a:t>Employees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1737360"/>
            <a:ext cx="338328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303A46"/>
                </a:solidFill>
                <a:latin typeface="Aptos"/>
              </a:defRPr>
            </a:pPr>
            <a:r>
              <a:t>employee_id (PK), name, role, hire_date, salary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788920"/>
            <a:ext cx="516636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1" y="2898648"/>
            <a:ext cx="15087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500" b="1">
                <a:solidFill>
                  <a:srgbClr val="2962A0"/>
                </a:solidFill>
                <a:latin typeface="Aptos"/>
              </a:defRPr>
            </a:pPr>
            <a:r>
              <a:t>Bills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880360"/>
            <a:ext cx="338328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303A46"/>
                </a:solidFill>
                <a:latin typeface="Aptos"/>
              </a:defRPr>
            </a:pPr>
            <a:r>
              <a:t>bill_id (PK), customer_id (FK, nullable), employee_id (FK), payment and totals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931920"/>
            <a:ext cx="516636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1" y="4041648"/>
            <a:ext cx="15087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500" b="1">
                <a:solidFill>
                  <a:srgbClr val="2962A0"/>
                </a:solidFill>
                <a:latin typeface="Aptos"/>
              </a:defRPr>
            </a:pPr>
            <a:r>
              <a:t>Bill_Items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023359"/>
            <a:ext cx="338328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303A46"/>
                </a:solidFill>
                <a:latin typeface="Aptos"/>
              </a:defRPr>
            </a:pPr>
            <a:r>
              <a:t>item_id (PK), bill_id (FK), product_id (FK), quantity, unit_price, line_total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5074920"/>
            <a:ext cx="516636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28231" y="5184648"/>
            <a:ext cx="15087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500" b="1">
                <a:solidFill>
                  <a:srgbClr val="2962A0"/>
                </a:solidFill>
                <a:latin typeface="Aptos"/>
              </a:defRPr>
            </a:pPr>
            <a:r>
              <a:t>price_audit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166359"/>
            <a:ext cx="338328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303A46"/>
                </a:solidFill>
                <a:latin typeface="Aptos"/>
              </a:defRPr>
            </a:pPr>
            <a:r>
              <a:t>audit_id (PK), product_id, action type, old/new price, timestamp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263640"/>
            <a:ext cx="106070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000" b="0">
                <a:solidFill>
                  <a:srgbClr val="5F6E7D"/>
                </a:solidFill>
                <a:latin typeface="Aptos"/>
              </a:defRPr>
            </a:pPr>
            <a:r>
              <a:t>Note: price_audit is an auxiliary audit table; product_id is not declared as a foreign key in the supplied SQL.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9672"/>
            <a:ext cx="91440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800" b="1">
                <a:solidFill>
                  <a:srgbClr val="788491"/>
                </a:solidFill>
                <a:latin typeface="Aptos"/>
              </a:defRPr>
            </a:pPr>
            <a:r>
              <a:t>GROCERY STORE BILLING MANAGEMENT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9224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900" b="0">
                <a:solidFill>
                  <a:srgbClr val="788491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800" b="1">
                <a:solidFill>
                  <a:srgbClr val="142A4B"/>
                </a:solidFill>
                <a:latin typeface="Aptos"/>
              </a:defRPr>
            </a:pPr>
            <a:r>
              <a:t>Entity–Relationship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54864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728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5F6E7D"/>
                </a:solidFill>
                <a:latin typeface="Aptos"/>
              </a:defRPr>
            </a:pPr>
            <a:r>
              <a:t>Rectangles = entities • Diamonds = relationships • Ovals = attributes • PK/FK labels identify keys</a:t>
            </a:r>
          </a:p>
        </p:txBody>
      </p:sp>
      <p:pic>
        <p:nvPicPr>
          <p:cNvPr id="5" name="Picture 4" descr="Grocery_Store_Billing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1120140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989320"/>
            <a:ext cx="1078992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50606E"/>
                </a:solidFill>
                <a:latin typeface="Aptos"/>
              </a:defRPr>
            </a:pPr>
            <a:r>
              <a:t>Relationships shown are 1:N. The schema does not define a 1:1 relationship.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9672"/>
            <a:ext cx="91440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800" b="1">
                <a:solidFill>
                  <a:srgbClr val="788491"/>
                </a:solidFill>
                <a:latin typeface="Aptos"/>
              </a:defRPr>
            </a:pPr>
            <a:r>
              <a:t>GROCERY STORE BILLING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900" b="0">
                <a:solidFill>
                  <a:srgbClr val="788491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800" b="1">
                <a:solidFill>
                  <a:srgbClr val="142A4B"/>
                </a:solidFill>
                <a:latin typeface="Aptos"/>
              </a:defRPr>
            </a:pPr>
            <a:r>
              <a:t>Relationship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54864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728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5F6E7D"/>
                </a:solidFill>
                <a:latin typeface="Aptos"/>
              </a:defRPr>
            </a:pPr>
            <a:r>
              <a:t>Foreign keys implement the one-to-many links.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698480" cy="548640"/>
          </a:xfrm>
          <a:prstGeom prst="roundRect">
            <a:avLst/>
          </a:prstGeom>
          <a:solidFill>
            <a:srgbClr val="F2F6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260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1">
                <a:solidFill>
                  <a:srgbClr val="142A4B"/>
                </a:solidFill>
                <a:latin typeface="Aptos"/>
              </a:defRPr>
            </a:pPr>
            <a:r>
              <a:t>Categories → Products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600200"/>
            <a:ext cx="15544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300" b="1">
                <a:solidFill>
                  <a:srgbClr val="008287"/>
                </a:solidFill>
                <a:latin typeface="Aptos"/>
              </a:defRPr>
            </a:pPr>
            <a:r>
              <a:t>1:N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1581912"/>
            <a:ext cx="557784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303A46"/>
                </a:solidFill>
                <a:latin typeface="Aptos"/>
              </a:defRPr>
            </a:pPr>
            <a:r>
              <a:t>Products.category_id references Categories.category_id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21991"/>
            <a:ext cx="106984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313432"/>
            <a:ext cx="29260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1">
                <a:solidFill>
                  <a:srgbClr val="142A4B"/>
                </a:solidFill>
                <a:latin typeface="Aptos"/>
              </a:defRPr>
            </a:pPr>
            <a:r>
              <a:t>Suppliers → 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313432"/>
            <a:ext cx="15544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300" b="1">
                <a:solidFill>
                  <a:srgbClr val="008287"/>
                </a:solidFill>
                <a:latin typeface="Aptos"/>
              </a:defRPr>
            </a:pPr>
            <a:r>
              <a:t>1:N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2295144"/>
            <a:ext cx="557784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303A46"/>
                </a:solidFill>
                <a:latin typeface="Aptos"/>
              </a:defRPr>
            </a:pPr>
            <a:r>
              <a:t>Products.supplier_id references Suppliers.supplier_id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35224"/>
            <a:ext cx="10698480" cy="548640"/>
          </a:xfrm>
          <a:prstGeom prst="roundRect">
            <a:avLst/>
          </a:prstGeom>
          <a:solidFill>
            <a:srgbClr val="F2F6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026664"/>
            <a:ext cx="29260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1">
                <a:solidFill>
                  <a:srgbClr val="142A4B"/>
                </a:solidFill>
                <a:latin typeface="Aptos"/>
              </a:defRPr>
            </a:pPr>
            <a:r>
              <a:t>Customers → Bills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026664"/>
            <a:ext cx="15544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300" b="1">
                <a:solidFill>
                  <a:srgbClr val="008287"/>
                </a:solidFill>
                <a:latin typeface="Aptos"/>
              </a:defRPr>
            </a:pPr>
            <a:r>
              <a:t>1:N, optional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3008376"/>
            <a:ext cx="557784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303A46"/>
                </a:solidFill>
                <a:latin typeface="Aptos"/>
              </a:defRPr>
            </a:pPr>
            <a:r>
              <a:t>Bills.customer_id is nullable for walk-in sales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48456"/>
            <a:ext cx="106984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739896"/>
            <a:ext cx="29260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1">
                <a:solidFill>
                  <a:srgbClr val="142A4B"/>
                </a:solidFill>
                <a:latin typeface="Aptos"/>
              </a:defRPr>
            </a:pPr>
            <a:r>
              <a:t>Employees → Bills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3739896"/>
            <a:ext cx="15544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300" b="1">
                <a:solidFill>
                  <a:srgbClr val="008287"/>
                </a:solidFill>
                <a:latin typeface="Aptos"/>
              </a:defRPr>
            </a:pPr>
            <a:r>
              <a:t>1:N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3721607"/>
            <a:ext cx="557784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303A46"/>
                </a:solidFill>
                <a:latin typeface="Aptos"/>
              </a:defRPr>
            </a:pPr>
            <a:r>
              <a:t>Bills.employee_id references Employees.employee_id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61688"/>
            <a:ext cx="10698480" cy="548640"/>
          </a:xfrm>
          <a:prstGeom prst="roundRect">
            <a:avLst/>
          </a:prstGeom>
          <a:solidFill>
            <a:srgbClr val="F2F6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453127"/>
            <a:ext cx="29260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1">
                <a:solidFill>
                  <a:srgbClr val="142A4B"/>
                </a:solidFill>
                <a:latin typeface="Aptos"/>
              </a:defRPr>
            </a:pPr>
            <a:r>
              <a:t>Bills → Bill_Items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4453127"/>
            <a:ext cx="15544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300" b="1">
                <a:solidFill>
                  <a:srgbClr val="008287"/>
                </a:solidFill>
                <a:latin typeface="Aptos"/>
              </a:defRPr>
            </a:pPr>
            <a:r>
              <a:t>1:N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4434840"/>
            <a:ext cx="557784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303A46"/>
                </a:solidFill>
                <a:latin typeface="Aptos"/>
              </a:defRPr>
            </a:pPr>
            <a:r>
              <a:t>Every bill item belongs to one bill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074920"/>
            <a:ext cx="106984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166360"/>
            <a:ext cx="29260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1">
                <a:solidFill>
                  <a:srgbClr val="142A4B"/>
                </a:solidFill>
                <a:latin typeface="Aptos"/>
              </a:defRPr>
            </a:pPr>
            <a:r>
              <a:t>Products → Bill_Items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5166360"/>
            <a:ext cx="15544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300" b="1">
                <a:solidFill>
                  <a:srgbClr val="008287"/>
                </a:solidFill>
                <a:latin typeface="Aptos"/>
              </a:defRPr>
            </a:pPr>
            <a:r>
              <a:t>1:N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148072"/>
            <a:ext cx="557784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303A46"/>
                </a:solidFill>
                <a:latin typeface="Aptos"/>
              </a:defRPr>
            </a:pPr>
            <a:r>
              <a:t>Every bill item references one product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519672"/>
            <a:ext cx="91440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800" b="1">
                <a:solidFill>
                  <a:srgbClr val="788491"/>
                </a:solidFill>
                <a:latin typeface="Aptos"/>
              </a:defRPr>
            </a:pPr>
            <a:r>
              <a:t>GROCERY STORE BILLING MANAGEMENT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9224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900" b="0">
                <a:solidFill>
                  <a:srgbClr val="788491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800" b="1">
                <a:solidFill>
                  <a:srgbClr val="142A4B"/>
                </a:solidFill>
                <a:latin typeface="Aptos"/>
              </a:defRPr>
            </a:pPr>
            <a:r>
              <a:t>Integrity and automation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54864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728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5F6E7D"/>
                </a:solidFill>
                <a:latin typeface="Aptos"/>
              </a:defRPr>
            </a:pPr>
            <a:r>
              <a:t>The schema includes constraints and server-side logic for safer transaction handling.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5166360" cy="4297680"/>
          </a:xfrm>
          <a:prstGeom prst="roundRect">
            <a:avLst/>
          </a:prstGeom>
          <a:solidFill>
            <a:srgbClr val="F2F6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1" y="1920240"/>
            <a:ext cx="45720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100" b="1">
                <a:solidFill>
                  <a:srgbClr val="2962A0"/>
                </a:solidFill>
                <a:latin typeface="Aptos"/>
              </a:defRPr>
            </a:pPr>
            <a:r>
              <a:t>Data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4526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03A46"/>
                </a:solidFill>
                <a:latin typeface="Aptos"/>
              </a:defRPr>
            </a:pPr>
            <a:r>
              <a:t>Primary keys on all tables</a:t>
            </a:r>
          </a:p>
          <a:p>
            <a:pPr>
              <a:spcAft>
                <a:spcPts val="1200"/>
              </a:spcAft>
              <a:defRPr sz="1500">
                <a:solidFill>
                  <a:srgbClr val="303A46"/>
                </a:solidFill>
                <a:latin typeface="Aptos"/>
              </a:defRPr>
            </a:pPr>
            <a:r>
              <a:t>Foreign keys enforce product/category/supplier and billing links</a:t>
            </a:r>
          </a:p>
          <a:p>
            <a:pPr>
              <a:spcAft>
                <a:spcPts val="1200"/>
              </a:spcAft>
              <a:defRPr sz="1500">
                <a:solidFill>
                  <a:srgbClr val="303A46"/>
                </a:solidFill>
                <a:latin typeface="Aptos"/>
              </a:defRPr>
            </a:pPr>
            <a:r>
              <a:t>CHECK constraints validate non-negative prices/totals and positive item quantity</a:t>
            </a:r>
          </a:p>
          <a:p>
            <a:pPr>
              <a:spcAft>
                <a:spcPts val="1200"/>
              </a:spcAft>
              <a:defRPr sz="1500">
                <a:solidFill>
                  <a:srgbClr val="303A46"/>
                </a:solidFill>
                <a:latin typeface="Aptos"/>
              </a:defRPr>
            </a:pPr>
            <a:r>
              <a:t>Unique category names and customer phone numbers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166360" cy="4297680"/>
          </a:xfrm>
          <a:prstGeom prst="roundRect">
            <a:avLst/>
          </a:prstGeom>
          <a:solidFill>
            <a:srgbClr val="F2F6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56832" y="1920240"/>
            <a:ext cx="45720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100" b="1">
                <a:solidFill>
                  <a:srgbClr val="2962A0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560320"/>
            <a:ext cx="4526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03A46"/>
                </a:solidFill>
                <a:latin typeface="Aptos"/>
              </a:defRPr>
            </a:pPr>
            <a:r>
              <a:t>Bill-item trigger validates quantity and available stock</a:t>
            </a:r>
          </a:p>
          <a:p>
            <a:pPr>
              <a:spcAft>
                <a:spcPts val="1200"/>
              </a:spcAft>
              <a:defRPr sz="1500">
                <a:solidFill>
                  <a:srgbClr val="303A46"/>
                </a:solidFill>
                <a:latin typeface="Aptos"/>
              </a:defRPr>
            </a:pPr>
            <a:r>
              <a:t>After-insert trigger reduces product stock</a:t>
            </a:r>
          </a:p>
          <a:p>
            <a:pPr>
              <a:spcAft>
                <a:spcPts val="1200"/>
              </a:spcAft>
              <a:defRPr sz="1500">
                <a:solidFill>
                  <a:srgbClr val="303A46"/>
                </a:solidFill>
                <a:latin typeface="Aptos"/>
              </a:defRPr>
            </a:pPr>
            <a:r>
              <a:t>Product insert/update/delete triggers record price audit events</a:t>
            </a:r>
          </a:p>
          <a:p>
            <a:pPr>
              <a:spcAft>
                <a:spcPts val="1200"/>
              </a:spcAft>
              <a:defRPr sz="1500">
                <a:solidFill>
                  <a:srgbClr val="303A46"/>
                </a:solidFill>
                <a:latin typeface="Aptos"/>
              </a:defRPr>
            </a:pPr>
            <a:r>
              <a:t>Stored procedure adds bill items and recalculates bill totals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9672"/>
            <a:ext cx="91440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800" b="1">
                <a:solidFill>
                  <a:srgbClr val="788491"/>
                </a:solidFill>
                <a:latin typeface="Aptos"/>
              </a:defRPr>
            </a:pPr>
            <a:r>
              <a:t>GROCERY STORE BILLING MANAGEMENT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900" b="0">
                <a:solidFill>
                  <a:srgbClr val="788491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800" b="1">
                <a:solidFill>
                  <a:srgbClr val="142A4B"/>
                </a:solidFill>
                <a:latin typeface="Aptos"/>
              </a:defRPr>
            </a:pPr>
            <a:r>
              <a:t>Reporting and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54864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728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5F6E7D"/>
                </a:solidFill>
                <a:latin typeface="Aptos"/>
              </a:defRPr>
            </a:pPr>
            <a:r>
              <a:t>Views and query examples turn transactional data into store insights.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1560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691639"/>
            <a:ext cx="33375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500" b="1">
                <a:solidFill>
                  <a:srgbClr val="2962A0"/>
                </a:solidFill>
                <a:latin typeface="Aptos"/>
              </a:defRPr>
            </a:pPr>
            <a:r>
              <a:t>view_bill_overview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664207"/>
            <a:ext cx="649224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303A46"/>
                </a:solidFill>
                <a:latin typeface="Aptos"/>
              </a:defRPr>
            </a:pPr>
            <a:r>
              <a:t>Bill date/time, customer or walk-in, cashier, payment, totals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68880"/>
            <a:ext cx="1051560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606040"/>
            <a:ext cx="33375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500" b="1">
                <a:solidFill>
                  <a:srgbClr val="2962A0"/>
                </a:solidFill>
                <a:latin typeface="Aptos"/>
              </a:defRPr>
            </a:pPr>
            <a:r>
              <a:t>view_sales_details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578608"/>
            <a:ext cx="649224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303A46"/>
                </a:solidFill>
                <a:latin typeface="Aptos"/>
              </a:defRPr>
            </a:pPr>
            <a:r>
              <a:t>Bill line items joined to products and categories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83280"/>
            <a:ext cx="1051560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520440"/>
            <a:ext cx="33375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500" b="1">
                <a:solidFill>
                  <a:srgbClr val="2962A0"/>
                </a:solidFill>
                <a:latin typeface="Aptos"/>
              </a:defRPr>
            </a:pPr>
            <a:r>
              <a:t>view_product_stock_status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493008"/>
            <a:ext cx="649224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303A46"/>
                </a:solidFill>
                <a:latin typeface="Aptos"/>
              </a:defRPr>
            </a:pPr>
            <a:r>
              <a:t>Stock/reorder status and expiry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97680"/>
            <a:ext cx="1051560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434840"/>
            <a:ext cx="33375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500" b="1">
                <a:solidFill>
                  <a:srgbClr val="2962A0"/>
                </a:solidFill>
                <a:latin typeface="Aptos"/>
              </a:defRPr>
            </a:pPr>
            <a:r>
              <a:t>view_category_sales_summary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407408"/>
            <a:ext cx="649224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303A46"/>
                </a:solidFill>
                <a:latin typeface="Aptos"/>
              </a:defRPr>
            </a:pPr>
            <a:r>
              <a:t>Units sold and revenue by category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1">
                <a:solidFill>
                  <a:srgbClr val="142A4B"/>
                </a:solidFill>
                <a:latin typeface="Aptos"/>
              </a:defRPr>
            </a:pPr>
            <a:r>
              <a:t>Query bank covers payment trends, top-selling products, discounts/tax, pending bills, margins, city sales, and low-stock items.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9672"/>
            <a:ext cx="91440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800" b="1">
                <a:solidFill>
                  <a:srgbClr val="788491"/>
                </a:solidFill>
                <a:latin typeface="Aptos"/>
              </a:defRPr>
            </a:pPr>
            <a:r>
              <a:t>GROCERY STORE BILLING MANAGEMENT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900" b="0">
                <a:solidFill>
                  <a:srgbClr val="788491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94360"/>
            <a:ext cx="10515600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Setup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484632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800" b="1">
                <a:solidFill>
                  <a:srgbClr val="76D5CF"/>
                </a:solidFill>
                <a:latin typeface="Aptos"/>
              </a:defRPr>
            </a:pPr>
            <a:r>
              <a:t>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MySQL Server 8.0.16+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Run the supplied SQL script in a test database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Script creates schema, sample data, indexes, views, procedures, and triggers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508760"/>
            <a:ext cx="493776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800" b="1">
                <a:solidFill>
                  <a:srgbClr val="76D5CF"/>
                </a:solidFill>
                <a:latin typeface="Aptos"/>
              </a:defRPr>
            </a:pPr>
            <a:r>
              <a:t>Before production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201168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Review sample data and billing calculations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Test trigger-driven stock updates on a clean database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Add transaction handling, access controls, backups, and application layer as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623560"/>
            <a:ext cx="1033272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9672"/>
            <a:ext cx="91440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800" b="1">
                <a:solidFill>
                  <a:srgbClr val="788491"/>
                </a:solidFill>
                <a:latin typeface="Aptos"/>
              </a:defRPr>
            </a:pPr>
            <a:r>
              <a:t>GROCERY STORE BILLING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900" b="0">
                <a:solidFill>
                  <a:srgbClr val="788491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724</Words>
  <Application>Microsoft Office PowerPoint</Application>
  <PresentationFormat>Widescreen</PresentationFormat>
  <Paragraphs>123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Vinay Sambana</cp:lastModifiedBy>
  <cp:revision>2</cp:revision>
  <dcterms:created xsi:type="dcterms:W3CDTF">2013-01-27T09:14:16Z</dcterms:created>
  <dcterms:modified xsi:type="dcterms:W3CDTF">2026-10-26T17:59:03Z</dcterms:modified>
  <cp:category/>
</cp:coreProperties>
</file>